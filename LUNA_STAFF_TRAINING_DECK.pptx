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548640"/>
            <a:ext cx="457200" cy="457200"/>
          </a:xfrm>
          <a:prstGeom prst="ellipse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Helvetica"/>
              </a:rPr>
              <a:t>LUNA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D4AF5A"/>
                </a:solidFill>
                <a:latin typeface="Helvetica"/>
              </a:rPr>
              <a:t>STAFF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0F0F8"/>
                </a:solidFill>
                <a:latin typeface="Helvetica"/>
              </a:rPr>
              <a:t>Facilitator Deck · 2-hour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A95B0"/>
                </a:solidFill>
                <a:latin typeface="Helvetica"/>
              </a:rPr>
              <a:t>BRISBANE  ·  GOLD COAST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95B0"/>
                </a:solidFill>
                <a:latin typeface="Helvetica"/>
              </a:rPr>
              <a:t>v1.0 · Feb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What we'll cover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1 · Welcome &amp; The 9 Venues  (10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2 · Roles &amp; Access Matrix  (10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3 · Member App Tour  (20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4 · Staff Portal — Award · Validate · History  (30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5 · QR Codes Decoded  (10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6 · Points · Tiers · Subscriptions  (15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7 · Safety / SOS Workflow  (10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8 · Troubleshooting &amp; Cheat Sheet  (10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9 · Practical Drills + Sign-off  (15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Welcome &amp;
The 9 Venues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The 9 Luna Group Venues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Eclipse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7249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01168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After Dark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7249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01168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Pump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7249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2900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36118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Mamacita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142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342900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6118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Juju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142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42900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36118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Night Market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142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84632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0292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Ember &amp; 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55595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484632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50292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Su Casa BNE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5595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484632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50292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Su Casa GC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5595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GOLD COAST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1 · Venues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The 3 Pillars of the Luna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611880" cy="32918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D4AF5A"/>
                </a:solidFill>
                <a:latin typeface="Helvetica"/>
              </a:rPr>
              <a:t>EARN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0F0F8"/>
                </a:solidFill>
                <a:latin typeface="Helvetica"/>
              </a:rPr>
              <a:t>Every dollar a guest spends becomes points.
SwiftPOS is the source of truth.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194560"/>
            <a:ext cx="3611880" cy="32918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4688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D4AF5A"/>
                </a:solidFill>
                <a:latin typeface="Helvetica"/>
              </a:rPr>
              <a:t>ENJOY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29184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0F0F8"/>
                </a:solidFill>
                <a:latin typeface="Helvetica"/>
              </a:rPr>
              <a:t>Drinks, entries, bottle service, VIP tables,
events, auctions.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94560"/>
            <a:ext cx="3611880" cy="32918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4688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D4AF5A"/>
                </a:solidFill>
                <a:latin typeface="Helvetica"/>
              </a:rPr>
              <a:t>ENGAGE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29184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0F0F8"/>
                </a:solidFill>
                <a:latin typeface="Helvetica"/>
              </a:rPr>
              <a:t>Luna AI concierge, leaderboards, missions,
milestones, crews.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PRINCIPLE — never tell a guest "the points didn't go through". Always check Staff Portal first.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1 · Pillars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Roles &amp;
Access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Who can do what?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  <a:gridCol w="1600200"/>
                <a:gridCol w="1600200"/>
                <a:gridCol w="1600200"/>
              </a:tblGrid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Capability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Member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Staff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Manager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Admin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Sign in to consumer app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Earn / spend points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Access Staff Portal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Quick-Award points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Validate reward / entry QRs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Gift points (override)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Venue Dashboard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Manage menus / events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Reports (SwiftPOS / payments)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limited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Manage users / roles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2 · Roles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Member App Tour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5 bottom tabs you'll 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148840" cy="347472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D4AF5A"/>
                </a:solidFill>
                <a:latin typeface="Helvetica"/>
              </a:rPr>
              <a:t>TONIGHT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1920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0F0F8"/>
                </a:solidFill>
                <a:latin typeface="Helvetica"/>
              </a:rPr>
              <a:t>Live events, AI picks,
auctions, quick links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2103120"/>
            <a:ext cx="2148840" cy="347472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22860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D4AF5A"/>
                </a:solidFill>
                <a:latin typeface="Helvetica"/>
              </a:rPr>
              <a:t>VENUES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926080"/>
            <a:ext cx="1920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0F0F8"/>
                </a:solidFill>
                <a:latin typeface="Helvetica"/>
              </a:rPr>
              <a:t>Map + list of all 9 venues,
detail screens, bookings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2103120"/>
            <a:ext cx="2148840" cy="347472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9240" y="22860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D4AF5A"/>
                </a:solidFill>
                <a:latin typeface="Helvetica"/>
              </a:rPr>
              <a:t>WALLET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926080"/>
            <a:ext cx="1920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0F0F8"/>
                </a:solidFill>
                <a:latin typeface="Helvetica"/>
              </a:rPr>
              <a:t>Points balance, history,
Member Card QR, rewards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2103120"/>
            <a:ext cx="2148840" cy="347472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22860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D4AF5A"/>
                </a:solidFill>
                <a:latin typeface="Helvetica"/>
              </a:rPr>
              <a:t>LUNA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926080"/>
            <a:ext cx="1920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0F0F8"/>
                </a:solidFill>
                <a:latin typeface="Helvetica"/>
              </a:rPr>
              <a:t>Personalised concierge,
plan-a-night, recommendations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2103120"/>
            <a:ext cx="2148840" cy="347472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21240" y="22860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D4AF5A"/>
                </a:solidFill>
                <a:latin typeface="Helvetica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926080"/>
            <a:ext cx="1920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0F0F8"/>
                </a:solidFill>
                <a:latin typeface="Helvetica"/>
              </a:rPr>
              <a:t>Settings, missions,
milestones, subscriptions, 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3 · App tour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Detail screens worth knowing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Member Card  →  full-screen QR for door + bar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Rewards Shop  →  redeem points for vouchers / drinks / entries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Bottle Service  →  packages bookable in-app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Events  →  RSVP + buy tickets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Auctions  →  bid on premium experiences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Missions / Milestones  →  bonus points for activity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Birthday Club  →  birthday-week perks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Refer a Friend  →  shared bonus on first visit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Lost &amp; Found  →  report or claim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Safety  →  one-tap SOS + emergency contacts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3 · Stack screens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Staff Portal
Award · Validate · History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4 · TAB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Award Points — 8 step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1. Confirm the correct venue is selected (top of screen)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2. Find the member: search OR scan their Member Card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3. Member profile loads (tier · balance · today)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4. Enter dollar amount spent (max $50,000 / txn)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5. Pick category: Drinks · Food · Entry · Booth · Bottles · Other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6. (Optional) Enter receipt reference for reconciliation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7. Tap Award Points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8. Read confirmation: points awarded, new balance, tier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4 · Award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4 · TAB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Validate — door / bar / cashier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Confirm venue selector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Tap Scan QR  OR  paste the QR string into the input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The portal auto-routes by prefix (next slide)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GREEN = success — proceed; reward is now consumed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RED = failure — read the message (expired / wrong venue / used)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NEVER strip the LUNA- prefix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If a refusal needs reversing AFTER green: manager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4 · Validate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4 · TAB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History — your audit trail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Filter: today · 7-day · 30-day · per-venue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Lists every Award + every Validate by you and your team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Use this FIRST to investigate any 'missing points' dispute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Tap a row to see receipt reference, amount, member, timestamp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Manager Gift-Points are flagged in red — bypass the earn-guard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4 · History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QR Codes Decoded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5 prefixes to recognise instantly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9728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114800"/>
                <a:gridCol w="3840480"/>
              </a:tblGrid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Prefix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Where to scan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Courier New"/>
                        </a:rPr>
                        <a:t>LUNA-MEMBER: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Member ID card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AWARD tab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Courier New"/>
                        </a:rPr>
                        <a:t>LUNA-ENT-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Free Entry pass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VALIDATE — door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Courier New"/>
                        </a:rPr>
                        <a:t>LUNA-TKT-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Milestone ticket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VALIDATE — door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Courier New"/>
                        </a:rPr>
                        <a:t>LUNA-DRINK-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Free drink reward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VALIDATE — bar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Courier New"/>
                        </a:rPr>
                        <a:t>LUNA-BDAY-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Birthday reward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VALIDATE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Courier New"/>
                        </a:rPr>
                        <a:t>LUNA-&lt;uuid&gt;-…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Generic reward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VALIDATE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4AF5A"/>
                </a:solidFill>
                <a:latin typeface="Helvetica"/>
              </a:rPr>
              <a:t>If it doesn't start with LUNA- it's not ours. Reject politely.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5 · QR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Points · Tiers · Subscriptions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Base Tiers (lifetime points)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10312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286000"/>
                <a:gridCol w="4114800"/>
              </a:tblGrid>
              <a:tr h="6400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"/>
                        </a:rPr>
                        <a:t>Tier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"/>
                        </a:rPr>
                        <a:t>Lifetime points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"/>
                        </a:rPr>
                        <a:t>Multiplier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"/>
                        </a:rPr>
                        <a:t>Headline perks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Bronze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1.0×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Standard rewards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Silver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5,000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1.25×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Priority entry occasionally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Gold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25,000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1.5×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Free drinks · select line-skips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Legend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100,000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2.0×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All-access · dedicated host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6 · Tiers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Paid Subscriptions — Stripe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Aurora  —  bonus points multiplier · early access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Lunar   —  monthly free entries (LUNA-ENT-) · monthly drink · priority bookings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Legend  —  Lunar perks + table credits + concierge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Subscription tier is INDEPENDENT of base tier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(A Bronze member can hold a Lunar subscription)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Total earn multiplier = base tier × subscription bonus × active boost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6 · Subs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Safety / SOS
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If a guest fires SOS in your venue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Manager receives instant alert in the Lovable admin portal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Locate guest — their last known venue is in the alert payload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Provide assistance: water · first aid · ride-share · escort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Write a 2-line incident note in the portal Resolve action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If serious (medical / police): call 000 FIRST, then update portal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Members add up to 5 emergency contacts in Safety Settings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SMS dispatch via Twilio — coming next sprint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7 · Safety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Troubleshooting
&amp; Cheat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Top member questions — one-line scripts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"How do I get my points?"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20116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I'll scan your member QR and award them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"Where's my member QR?"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5146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Open the app → Wallet → Member Card.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"I didn't get points from yesterday"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30175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Let me check History — SwiftPOS can take a few minutes.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04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"How do I get free entry?"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52043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Lunar subscription gives monthly entries; tier may also unlock.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5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"What's my tier?"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402335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It's on your Profile screen — Bronze · Silver · Gold · Legend.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262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"How do referrals work?"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52627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Profile → Refer a Friend. You both get bonus points after their first visit.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1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"I lost something"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502919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App → Lost &amp; Found → Report Missing. We'll match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5321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"Cancel my subscription?"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553211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Profile → Subscriptions → Manage. Stripe handles it; access until period-end.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8 · Cheat sheet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Troubleshooting playbook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Points not showing  →  check History; if absent, re-award + flag manager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QR won't scan  →  brightness up · full-screen Member Card · or search by email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App crashing  →  force close · update · capture screenshot for support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Wrong venue on receipt  →  do NOT reverse · call manager · they fix in Lovable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Duplicate award  →  manager reverses one in Lovable Admin Portal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8 · Troubleshooting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Practical Drills
&amp; Sign-off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Drills — pair up and demonstrate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DRILL 1 · Award $85 of drinks at Eclipse with receipt ref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DRILL 2 · Validate a LUNA-DRINK- QR at the bar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DRILL 3 · Validate a LUNA-ENT- QR at the door (wrong venue first → see error)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DRILL 4 · Search a member by phone, then by QR scan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DRILL 5 · Investigate a fake "missing points" complaint via History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DRILL 6 · Manager only: issue a Gift-Points override with a written reason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9 · Drills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Sign-off — each trainee must demonstrate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Log in and select correct venue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Search by name · email · QR scan (all three)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Quick-award with category + receipt ref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Validate every QR type (MEMBER · ENT · TKT · DRINK · BDAY · generic)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Explain base tier vs subscription tier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Walk a member to their Member Card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Triage a missing-points complaint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Explain (don't fire) the SOS workflow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Identify when to escalate to manager / Luna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9 · Sign-off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Helvetica"/>
              </a:rPr>
              <a:t>WELCOME TO 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D4AF5A"/>
                </a:solidFill>
                <a:latin typeface="Helvetica"/>
              </a:rPr>
              <a:t>Now go make every Luna night unforgettable.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9A95B0"/>
                </a:solidFill>
                <a:latin typeface="Helvetica"/>
              </a:rPr>
              <a:t>Questions?  ·  support@lunagroupapp.com.au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