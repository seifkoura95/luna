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548640"/>
            <a:ext cx="457200" cy="457200"/>
          </a:xfrm>
          <a:prstGeom prst="ellipse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Helvetica"/>
              </a:rPr>
              <a:t>LUNA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D4AF5A"/>
                </a:solidFill>
                <a:latin typeface="Helvetica"/>
              </a:rPr>
              <a:t>STAFF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0F0F8"/>
                </a:solidFill>
                <a:latin typeface="Helvetica"/>
              </a:rPr>
              <a:t>Facilitator Deck · 2-hour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95B0"/>
                </a:solidFill>
                <a:latin typeface="Helvetica"/>
              </a:rPr>
              <a:t>BRISBANE  ·  GOLD COAST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95B0"/>
                </a:solidFill>
                <a:latin typeface="Helvetica"/>
              </a:rPr>
              <a:t>v1.2 · Apr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F5A"/>
                </a:solidFill>
                <a:latin typeface="Helvetica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"/>
              </a:rPr>
              <a:t>What we'll cover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914400" cy="45720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Module 1 · Welcome &amp; The 9 Venues  (10 min)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Module 2 · Roles &amp; Access Matrix  (10 min)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Module 3 · Member App Tour  (20 min)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Module 4 · Staff Portal — Award · Validate · History  (30 min)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Module 5 · QR Codes Decoded  (10 min)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Module 6 · Points · Tiers · Subscriptions  (15 min)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Module 7 · Safety / SOS Workflow  (10 min)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Module 8 · Troubleshooting &amp; Cheat Sheet  (10 min)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Module 9 · Practical Drills + Sign-off  (15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5B0"/>
                </a:solidFill>
                <a:latin typeface="Helvetica"/>
              </a:rPr>
              <a:t>Luna Group VIP · Staff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95B0"/>
                </a:solidFill>
                <a:latin typeface="Helvetica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D4AF5A"/>
                </a:solidFill>
                <a:latin typeface="Helvetica"/>
              </a:rPr>
              <a:t>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elvetica"/>
              </a:rPr>
              <a:t>Welcome &amp;
The 9 Venues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480560"/>
            <a:ext cx="1371600" cy="54864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F5A"/>
                </a:solidFill>
                <a:latin typeface="Helvetica"/>
              </a:rPr>
              <a:t>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"/>
              </a:rPr>
              <a:t>The 9 Luna Group Venues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914400" cy="45720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611880" cy="1234440"/>
          </a:xfrm>
          <a:prstGeom prst="roundRect">
            <a:avLst/>
          </a:prstGeom>
          <a:solidFill>
            <a:srgbClr val="1A1530"/>
          </a:solidFill>
          <a:ln w="6350">
            <a:solidFill>
              <a:srgbClr val="D4A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"/>
              </a:rPr>
              <a:t>Eclipse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7249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4AF5A"/>
                </a:solidFill>
                <a:latin typeface="Helvetica"/>
              </a:rPr>
              <a:t>BRISBANE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011680"/>
            <a:ext cx="3611880" cy="1234440"/>
          </a:xfrm>
          <a:prstGeom prst="roundRect">
            <a:avLst/>
          </a:prstGeom>
          <a:solidFill>
            <a:srgbClr val="1A1530"/>
          </a:solidFill>
          <a:ln w="6350">
            <a:solidFill>
              <a:srgbClr val="D4A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"/>
              </a:rPr>
              <a:t>After Dark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7249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4AF5A"/>
                </a:solidFill>
                <a:latin typeface="Helvetica"/>
              </a:rPr>
              <a:t>BRISBANE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011680"/>
            <a:ext cx="3611880" cy="1234440"/>
          </a:xfrm>
          <a:prstGeom prst="roundRect">
            <a:avLst/>
          </a:prstGeom>
          <a:solidFill>
            <a:srgbClr val="1A1530"/>
          </a:solidFill>
          <a:ln w="6350">
            <a:solidFill>
              <a:srgbClr val="D4A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"/>
              </a:rPr>
              <a:t>Pump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7249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4AF5A"/>
                </a:solidFill>
                <a:latin typeface="Helvetica"/>
              </a:rPr>
              <a:t>BRISBANE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29000"/>
            <a:ext cx="3611880" cy="1234440"/>
          </a:xfrm>
          <a:prstGeom prst="roundRect">
            <a:avLst/>
          </a:prstGeom>
          <a:solidFill>
            <a:srgbClr val="1A1530"/>
          </a:solidFill>
          <a:ln w="6350">
            <a:solidFill>
              <a:srgbClr val="D4A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611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"/>
              </a:rPr>
              <a:t>Mamacita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1422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4AF5A"/>
                </a:solidFill>
                <a:latin typeface="Helvetica"/>
              </a:rPr>
              <a:t>BRISBANE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429000"/>
            <a:ext cx="3611880" cy="1234440"/>
          </a:xfrm>
          <a:prstGeom prst="roundRect">
            <a:avLst/>
          </a:prstGeom>
          <a:solidFill>
            <a:srgbClr val="1A1530"/>
          </a:solidFill>
          <a:ln w="6350">
            <a:solidFill>
              <a:srgbClr val="D4A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611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"/>
              </a:rPr>
              <a:t>Juju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1422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4AF5A"/>
                </a:solidFill>
                <a:latin typeface="Helvetica"/>
              </a:rPr>
              <a:t>BRISBANE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429000"/>
            <a:ext cx="3611880" cy="1234440"/>
          </a:xfrm>
          <a:prstGeom prst="roundRect">
            <a:avLst/>
          </a:prstGeom>
          <a:solidFill>
            <a:srgbClr val="1A1530"/>
          </a:solidFill>
          <a:ln w="6350">
            <a:solidFill>
              <a:srgbClr val="D4A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611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"/>
              </a:rPr>
              <a:t>Night Market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1422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4AF5A"/>
                </a:solidFill>
                <a:latin typeface="Helvetica"/>
              </a:rPr>
              <a:t>BRISBANE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46320"/>
            <a:ext cx="3611880" cy="1234440"/>
          </a:xfrm>
          <a:prstGeom prst="roundRect">
            <a:avLst/>
          </a:prstGeom>
          <a:solidFill>
            <a:srgbClr val="1A1530"/>
          </a:solidFill>
          <a:ln w="6350">
            <a:solidFill>
              <a:srgbClr val="D4A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50292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"/>
              </a:rPr>
              <a:t>Ember &amp; 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55595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4AF5A"/>
                </a:solidFill>
                <a:latin typeface="Helvetica"/>
              </a:rPr>
              <a:t>BRISBANE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4846320"/>
            <a:ext cx="3611880" cy="1234440"/>
          </a:xfrm>
          <a:prstGeom prst="roundRect">
            <a:avLst/>
          </a:prstGeom>
          <a:solidFill>
            <a:srgbClr val="1A1530"/>
          </a:solidFill>
          <a:ln w="6350">
            <a:solidFill>
              <a:srgbClr val="D4A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50292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"/>
              </a:rPr>
              <a:t>Su Casa BNE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55595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4AF5A"/>
                </a:solidFill>
                <a:latin typeface="Helvetica"/>
              </a:rPr>
              <a:t>BRISBANE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846320"/>
            <a:ext cx="3611880" cy="1234440"/>
          </a:xfrm>
          <a:prstGeom prst="roundRect">
            <a:avLst/>
          </a:prstGeom>
          <a:solidFill>
            <a:srgbClr val="1A1530"/>
          </a:solidFill>
          <a:ln w="6350">
            <a:solidFill>
              <a:srgbClr val="D4A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50292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"/>
              </a:rPr>
              <a:t>Su Casa GC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5595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4AF5A"/>
                </a:solidFill>
                <a:latin typeface="Helvetica"/>
              </a:rPr>
              <a:t>GOLD COAST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5B0"/>
                </a:solidFill>
                <a:latin typeface="Helvetica"/>
              </a:rPr>
              <a:t>Luna Group VIP · Staff Training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64465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95B0"/>
                </a:solidFill>
                <a:latin typeface="Helvetica"/>
              </a:rPr>
              <a:t>Module 1 · Venues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F5A"/>
                </a:solidFill>
                <a:latin typeface="Helvetica"/>
              </a:rPr>
              <a:t>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"/>
              </a:rPr>
              <a:t>The 3 Pillars of the Luna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914400" cy="45720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611880" cy="3291840"/>
          </a:xfrm>
          <a:prstGeom prst="roundRect">
            <a:avLst/>
          </a:prstGeom>
          <a:solidFill>
            <a:srgbClr val="1A1530"/>
          </a:solidFill>
          <a:ln w="6350">
            <a:solidFill>
              <a:srgbClr val="D4A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D4AF5A"/>
                </a:solidFill>
                <a:latin typeface="Helvetica"/>
              </a:rPr>
              <a:t>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32004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8"/>
                </a:solidFill>
                <a:latin typeface="Helvetica"/>
              </a:rPr>
              <a:t>Every dollar a guest spends becomes points.
SwiftPOS is the source of truth.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194560"/>
            <a:ext cx="3611880" cy="3291840"/>
          </a:xfrm>
          <a:prstGeom prst="roundRect">
            <a:avLst/>
          </a:prstGeom>
          <a:solidFill>
            <a:srgbClr val="1A1530"/>
          </a:solidFill>
          <a:ln w="6350">
            <a:solidFill>
              <a:srgbClr val="D4A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4688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D4AF5A"/>
                </a:solidFill>
                <a:latin typeface="Helvetica"/>
              </a:rPr>
              <a:t>ENJOY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291840"/>
            <a:ext cx="32004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8"/>
                </a:solidFill>
                <a:latin typeface="Helvetica"/>
              </a:rPr>
              <a:t>Drinks, entries, bottle service, VIP tables,
events, auctions.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194560"/>
            <a:ext cx="3611880" cy="3291840"/>
          </a:xfrm>
          <a:prstGeom prst="roundRect">
            <a:avLst/>
          </a:prstGeom>
          <a:solidFill>
            <a:srgbClr val="1A1530"/>
          </a:solidFill>
          <a:ln w="6350">
            <a:solidFill>
              <a:srgbClr val="D4A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4688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D4AF5A"/>
                </a:solidFill>
                <a:latin typeface="Helvetica"/>
              </a:rPr>
              <a:t>ENGAGE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291840"/>
            <a:ext cx="32004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8"/>
                </a:solidFill>
                <a:latin typeface="Helvetica"/>
              </a:rPr>
              <a:t>Luna AI concierge, leaderboards, missions,
milestones, crews.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F5A"/>
                </a:solidFill>
                <a:latin typeface="Helvetica"/>
              </a:rPr>
              <a:t>PRINCIPLE — never tell a guest "the points didn't go through". Always check Staff Portal first.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5B0"/>
                </a:solidFill>
                <a:latin typeface="Helvetica"/>
              </a:rPr>
              <a:t>Luna Group VIP · Staff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64465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95B0"/>
                </a:solidFill>
                <a:latin typeface="Helvetica"/>
              </a:rPr>
              <a:t>Module 1 · Pillars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D4AF5A"/>
                </a:solidFill>
                <a:latin typeface="Helvetica"/>
              </a:rPr>
              <a:t>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elvetica"/>
              </a:rPr>
              <a:t>Roles &amp;
Access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480560"/>
            <a:ext cx="1371600" cy="54864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F5A"/>
                </a:solidFill>
                <a:latin typeface="Helvetica"/>
              </a:rPr>
              <a:t>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"/>
              </a:rPr>
              <a:t>Who can do what?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914400" cy="45720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80"/>
          <a:ext cx="109728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600200"/>
                <a:gridCol w="1600200"/>
                <a:gridCol w="1600200"/>
                <a:gridCol w="1600200"/>
              </a:tblGrid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Capability</a:t>
                      </a:r>
                    </a:p>
                  </a:txBody>
                  <a:tcPr>
                    <a:solidFill>
                      <a:srgbClr val="1A1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Member</a:t>
                      </a:r>
                    </a:p>
                  </a:txBody>
                  <a:tcPr>
                    <a:solidFill>
                      <a:srgbClr val="1A1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Staff</a:t>
                      </a:r>
                    </a:p>
                  </a:txBody>
                  <a:tcPr>
                    <a:solidFill>
                      <a:srgbClr val="1A1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Manager</a:t>
                      </a:r>
                    </a:p>
                  </a:txBody>
                  <a:tcPr>
                    <a:solidFill>
                      <a:srgbClr val="1A15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elvetica"/>
                        </a:rPr>
                        <a:t>Admin</a:t>
                      </a:r>
                    </a:p>
                  </a:txBody>
                  <a:tcPr>
                    <a:solidFill>
                      <a:srgbClr val="1A1530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Sign in to consumer app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Earn / spend points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Access Staff Portal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Quick-Award points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Validate reward / entry QRs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Gift points (override)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Venue Dashboard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Manage menus / events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Reports (SwiftPOS / payments)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limited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Manage users / roles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—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0F0F8"/>
                          </a:solidFill>
                          <a:latin typeface="Helvetica"/>
                        </a:rPr>
                        <a:t>✓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5B0"/>
                </a:solidFill>
                <a:latin typeface="Helvetica"/>
              </a:rPr>
              <a:t>Luna Group VIP · Staff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95B0"/>
                </a:solidFill>
                <a:latin typeface="Helvetica"/>
              </a:rPr>
              <a:t>Module 2 · Roles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D4AF5A"/>
                </a:solidFill>
                <a:latin typeface="Helvetica"/>
              </a:rP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elvetica"/>
              </a:rPr>
              <a:t>Member App Tour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480560"/>
            <a:ext cx="1371600" cy="54864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F5A"/>
                </a:solidFill>
                <a:latin typeface="Helvetica"/>
              </a:rP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"/>
              </a:rPr>
              <a:t>5 bottom tabs you'll see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914400" cy="45720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148840" cy="3474720"/>
          </a:xfrm>
          <a:prstGeom prst="roundRect">
            <a:avLst/>
          </a:prstGeom>
          <a:solidFill>
            <a:srgbClr val="1A1530"/>
          </a:solidFill>
          <a:ln w="6350">
            <a:solidFill>
              <a:srgbClr val="D4A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D4AF5A"/>
                </a:solidFill>
                <a:latin typeface="Helvetica"/>
              </a:rPr>
              <a:t>TONIGHT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19202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0F0F8"/>
                </a:solidFill>
                <a:latin typeface="Helvetica"/>
              </a:rPr>
              <a:t>Live events, AI picks,
auctions, quick links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103120"/>
            <a:ext cx="2148840" cy="3474720"/>
          </a:xfrm>
          <a:prstGeom prst="roundRect">
            <a:avLst/>
          </a:prstGeom>
          <a:solidFill>
            <a:srgbClr val="1A1530"/>
          </a:solidFill>
          <a:ln w="6350">
            <a:solidFill>
              <a:srgbClr val="D4A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2860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D4AF5A"/>
                </a:solidFill>
                <a:latin typeface="Helvetica"/>
              </a:rPr>
              <a:t>VENUES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926080"/>
            <a:ext cx="19202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0F0F8"/>
                </a:solidFill>
                <a:latin typeface="Helvetica"/>
              </a:rPr>
              <a:t>Map + list of all 9 venues,
detail screens, bookings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2103120"/>
            <a:ext cx="2148840" cy="3474720"/>
          </a:xfrm>
          <a:prstGeom prst="roundRect">
            <a:avLst/>
          </a:prstGeom>
          <a:solidFill>
            <a:srgbClr val="1A1530"/>
          </a:solidFill>
          <a:ln w="6350">
            <a:solidFill>
              <a:srgbClr val="D4A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22860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D4AF5A"/>
                </a:solidFill>
                <a:latin typeface="Helvetica"/>
              </a:rPr>
              <a:t>WALLET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926080"/>
            <a:ext cx="19202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0F0F8"/>
                </a:solidFill>
                <a:latin typeface="Helvetica"/>
              </a:rPr>
              <a:t>Points balance, history,
Member Card QR, rewards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103120"/>
            <a:ext cx="2148840" cy="3474720"/>
          </a:xfrm>
          <a:prstGeom prst="roundRect">
            <a:avLst/>
          </a:prstGeom>
          <a:solidFill>
            <a:srgbClr val="1A1530"/>
          </a:solidFill>
          <a:ln w="6350">
            <a:solidFill>
              <a:srgbClr val="D4A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22860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D4AF5A"/>
                </a:solidFill>
                <a:latin typeface="Helvetica"/>
              </a:rPr>
              <a:t>LUNA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926080"/>
            <a:ext cx="19202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0F0F8"/>
                </a:solidFill>
                <a:latin typeface="Helvetica"/>
              </a:rPr>
              <a:t>Personalised concierge,
plan-a-night, recommendations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2103120"/>
            <a:ext cx="2148840" cy="3474720"/>
          </a:xfrm>
          <a:prstGeom prst="roundRect">
            <a:avLst/>
          </a:prstGeom>
          <a:solidFill>
            <a:srgbClr val="1A1530"/>
          </a:solidFill>
          <a:ln w="6350">
            <a:solidFill>
              <a:srgbClr val="D4A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1240" y="22860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D4AF5A"/>
                </a:solidFill>
                <a:latin typeface="Helvetica"/>
              </a:rPr>
              <a:t>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2926080"/>
            <a:ext cx="19202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0F0F8"/>
                </a:solidFill>
                <a:latin typeface="Helvetica"/>
              </a:rPr>
              <a:t>Settings, missions,
milestones, subscriptions, 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5B0"/>
                </a:solidFill>
                <a:latin typeface="Helvetica"/>
              </a:rPr>
              <a:t>Luna Group VIP · Staff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64465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95B0"/>
                </a:solidFill>
                <a:latin typeface="Helvetica"/>
              </a:rPr>
              <a:t>Module 3 · App tour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F5A"/>
                </a:solidFill>
                <a:latin typeface="Helvetica"/>
              </a:rP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"/>
              </a:rPr>
              <a:t>Detail screens worth knowing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914400" cy="45720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600">
                <a:solidFill>
                  <a:srgbClr val="F0F0F8"/>
                </a:solidFill>
                <a:latin typeface="Helvetica"/>
              </a:rPr>
              <a:t>Member Card  →  full-screen QR for door + bar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600">
                <a:solidFill>
                  <a:srgbClr val="F0F0F8"/>
                </a:solidFill>
                <a:latin typeface="Helvetica"/>
              </a:rPr>
              <a:t>Rewards Shop  →  redeem points for vouchers / drinks / entries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600">
                <a:solidFill>
                  <a:srgbClr val="F0F0F8"/>
                </a:solidFill>
                <a:latin typeface="Helvetica"/>
              </a:rPr>
              <a:t>Bottle Service  →  packages bookable in-app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600">
                <a:solidFill>
                  <a:srgbClr val="F0F0F8"/>
                </a:solidFill>
                <a:latin typeface="Helvetica"/>
              </a:rPr>
              <a:t>Events  →  RSVP + buy tickets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600">
                <a:solidFill>
                  <a:srgbClr val="F0F0F8"/>
                </a:solidFill>
                <a:latin typeface="Helvetica"/>
              </a:rPr>
              <a:t>Auctions  →  bid on premium experiences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600">
                <a:solidFill>
                  <a:srgbClr val="F0F0F8"/>
                </a:solidFill>
                <a:latin typeface="Helvetica"/>
              </a:rPr>
              <a:t>Missions / Milestones  →  bonus points for activity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600">
                <a:solidFill>
                  <a:srgbClr val="F0F0F8"/>
                </a:solidFill>
                <a:latin typeface="Helvetica"/>
              </a:rPr>
              <a:t>Birthday Club  →  birthday-week perks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600">
                <a:solidFill>
                  <a:srgbClr val="F0F0F8"/>
                </a:solidFill>
                <a:latin typeface="Helvetica"/>
              </a:rPr>
              <a:t>Refer a Friend  →  shared bonus on first visit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600">
                <a:solidFill>
                  <a:srgbClr val="F0F0F8"/>
                </a:solidFill>
                <a:latin typeface="Helvetica"/>
              </a:rPr>
              <a:t>Lost &amp; Found  →  report or claim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600">
                <a:solidFill>
                  <a:srgbClr val="F0F0F8"/>
                </a:solidFill>
                <a:latin typeface="Helvetica"/>
              </a:rPr>
              <a:t>Safety  →  one-tap SOS + emergency contacts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5B0"/>
                </a:solidFill>
                <a:latin typeface="Helvetica"/>
              </a:rPr>
              <a:t>Luna Group VIP · Staff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95B0"/>
                </a:solidFill>
                <a:latin typeface="Helvetica"/>
              </a:rPr>
              <a:t>Module 3 · Stack screens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D4AF5A"/>
                </a:solidFill>
                <a:latin typeface="Helvetica"/>
              </a:rPr>
              <a:t>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elvetica"/>
              </a:rPr>
              <a:t>Staff Portal
Award · Validate ·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480560"/>
            <a:ext cx="1371600" cy="54864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F5A"/>
                </a:solidFill>
                <a:latin typeface="Helvetica"/>
              </a:rPr>
              <a:t>MODULE 4 · TAB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"/>
              </a:rPr>
              <a:t>Award Points — only when SwiftPOS can't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914400" cy="45720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700">
                <a:solidFill>
                  <a:srgbClr val="F0F0F8"/>
                </a:solidFill>
                <a:latin typeface="Helvetica"/>
              </a:rPr>
              <a:t>1. Confirm the correct venue is selected (top of screen)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700">
                <a:solidFill>
                  <a:srgbClr val="F0F0F8"/>
                </a:solidFill>
                <a:latin typeface="Helvetica"/>
              </a:rPr>
              <a:t>2. Find the member: search OR scan their Member Card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700">
                <a:solidFill>
                  <a:srgbClr val="F0F0F8"/>
                </a:solidFill>
                <a:latin typeface="Helvetica"/>
              </a:rPr>
              <a:t>3. Member profile loads (tier · balance · today)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700">
                <a:solidFill>
                  <a:srgbClr val="F0F0F8"/>
                </a:solidFill>
                <a:latin typeface="Helvetica"/>
              </a:rPr>
              <a:t>4. Enter dollar amount spent (max $50,000 / txn)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700">
                <a:solidFill>
                  <a:srgbClr val="F0F0F8"/>
                </a:solidFill>
                <a:latin typeface="Helvetica"/>
              </a:rPr>
              <a:t>5. Pick category: Drinks · Food · Entry · Booth · Bottles · Other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700">
                <a:solidFill>
                  <a:srgbClr val="F0F0F8"/>
                </a:solidFill>
                <a:latin typeface="Helvetica"/>
              </a:rPr>
              <a:t>6. ALWAYS enter the receipt reference — anti-double-credit guard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700">
                <a:solidFill>
                  <a:srgbClr val="F0F0F8"/>
                </a:solidFill>
                <a:latin typeface="Helvetica"/>
              </a:rPr>
              <a:t>7. Tap Award Points  →  $1 = 10 pts × tier multiplier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700">
                <a:solidFill>
                  <a:srgbClr val="F0F0F8"/>
                </a:solidFill>
                <a:latin typeface="Helvetica"/>
              </a:rPr>
              <a:t>8. 409 "already awarded"?  →  it's already in SwiftPOS — leave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5B0"/>
                </a:solidFill>
                <a:latin typeface="Helvetica"/>
              </a:rPr>
              <a:t>Luna Group VIP · Staff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95B0"/>
                </a:solidFill>
                <a:latin typeface="Helvetica"/>
              </a:rPr>
              <a:t>Module 4 · Award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F5A"/>
                </a:solidFill>
                <a:latin typeface="Helvetica"/>
              </a:rPr>
              <a:t>MODULE 4 · IMPORTANT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"/>
              </a:rPr>
              <a:t>Quick Award is an EXCEPTION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914400" cy="45720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D4AF5A"/>
                </a:solidFill>
                <a:latin typeface="Helvetica"/>
              </a:rPr>
              <a:t>Use Quick Award only when SwiftPOS can't capture the sale.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400">
                <a:solidFill>
                  <a:srgbClr val="F0F0F8"/>
                </a:solidFill>
                <a:latin typeface="Helvetica"/>
              </a:rPr>
              <a:t>DO  →  Cash-only / pop-up / off-system events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400">
                <a:solidFill>
                  <a:srgbClr val="F0F0F8"/>
                </a:solidFill>
                <a:latin typeface="Helvetica"/>
              </a:rPr>
              <a:t>DO  →  SwiftPOS outage / network down (note receipt, enter when back)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400">
                <a:solidFill>
                  <a:srgbClr val="F0F0F8"/>
                </a:solidFill>
                <a:latin typeface="Helvetica"/>
              </a:rPr>
              <a:t>DO  →  Split bills — only for the portion that didn't go through POS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400">
                <a:solidFill>
                  <a:srgbClr val="F0F0F8"/>
                </a:solidFill>
                <a:latin typeface="Helvetica"/>
              </a:rPr>
              <a:t>DO  →  Manager Gift Points — comps, hospitality, artist drinks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400">
                <a:solidFill>
                  <a:srgbClr val="F0F0F8"/>
                </a:solidFill>
                <a:latin typeface="Helvetica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400">
                <a:solidFill>
                  <a:srgbClr val="F0F0F8"/>
                </a:solidFill>
                <a:latin typeface="Helvetica"/>
              </a:rPr>
              <a:t>DO NOT  →  Sale that already went through SwiftPOS (= double credit)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400">
                <a:solidFill>
                  <a:srgbClr val="F0F0F8"/>
                </a:solidFill>
                <a:latin typeface="Helvetica"/>
              </a:rPr>
              <a:t>DO NOT  →  Member 'forgot to give number' on a SwiftPOS docket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400">
                <a:solidFill>
                  <a:srgbClr val="F0F0F8"/>
                </a:solidFill>
                <a:latin typeface="Helvetica"/>
              </a:rPr>
              <a:t>             (manager attaches member to existing receipt instead)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400">
                <a:solidFill>
                  <a:srgbClr val="F0F0F8"/>
                </a:solidFill>
                <a:latin typeface="Helvetica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400">
                <a:solidFill>
                  <a:srgbClr val="F0F0F8"/>
                </a:solidFill>
                <a:latin typeface="Helvetica"/>
              </a:rPr>
              <a:t>Receipt-ref guard returns 409 if the same receipt is awarded twice.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5B0"/>
                </a:solidFill>
                <a:latin typeface="Helvetica"/>
              </a:rPr>
              <a:t>Luna Group VIP · Staff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64465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95B0"/>
                </a:solidFill>
                <a:latin typeface="Helvetica"/>
              </a:rPr>
              <a:t>Module 4 · Quick-Award rules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F5A"/>
                </a:solidFill>
                <a:latin typeface="Helvetica"/>
              </a:rPr>
              <a:t>MODULE 4 · TAB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"/>
              </a:rPr>
              <a:t>Validate — door / bar / cashier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914400" cy="45720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Confirm venue selector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Tap Scan QR  OR  paste the QR string into the input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The portal auto-routes by prefix (next slide)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GREEN = success — proceed; reward is now consumed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RED = failure — read the message (expired / wrong venue / used)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NEVER strip the LUNA- prefix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If a refusal needs reversing AFTER green: manager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5B0"/>
                </a:solidFill>
                <a:latin typeface="Helvetica"/>
              </a:rPr>
              <a:t>Luna Group VIP · Staff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95B0"/>
                </a:solidFill>
                <a:latin typeface="Helvetica"/>
              </a:rPr>
              <a:t>Module 4 · Validate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F5A"/>
                </a:solidFill>
                <a:latin typeface="Helvetica"/>
              </a:rPr>
              <a:t>MODULE 4 · TAB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"/>
              </a:rPr>
              <a:t>History — your audit trail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914400" cy="45720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Filter: today · 7-day · 30-day · per-venue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Lists every Award + every Validate by you and your team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Use this FIRST to investigate any 'missing points' dispute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Tap a row to see receipt reference, amount, member, timestamp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Manager Gift-Points are flagged in red — bypass the earn-guard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5B0"/>
                </a:solidFill>
                <a:latin typeface="Helvetica"/>
              </a:rPr>
              <a:t>Luna Group VIP · Staff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95B0"/>
                </a:solidFill>
                <a:latin typeface="Helvetica"/>
              </a:rPr>
              <a:t>Module 4 · History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D4AF5A"/>
                </a:solidFill>
                <a:latin typeface="Helvetica"/>
              </a:rPr>
              <a:t>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elvetica"/>
              </a:rPr>
              <a:t>QR Codes Decoded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480560"/>
            <a:ext cx="1371600" cy="54864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F5A"/>
                </a:solidFill>
                <a:latin typeface="Helvetica"/>
              </a:rPr>
              <a:t>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"/>
              </a:rPr>
              <a:t>5 prefixes to recognise instantly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914400" cy="45720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8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114800"/>
                <a:gridCol w="3840480"/>
              </a:tblGrid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elvetica"/>
                        </a:rPr>
                        <a:t>Prefix</a:t>
                      </a:r>
                    </a:p>
                  </a:txBody>
                  <a:tcPr>
                    <a:solidFill>
                      <a:srgbClr val="1A15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elvetica"/>
                        </a:rPr>
                        <a:t>Meaning</a:t>
                      </a:r>
                    </a:p>
                  </a:txBody>
                  <a:tcPr>
                    <a:solidFill>
                      <a:srgbClr val="1A15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elvetica"/>
                        </a:rPr>
                        <a:t>Where to scan</a:t>
                      </a:r>
                    </a:p>
                  </a:txBody>
                  <a:tcPr>
                    <a:solidFill>
                      <a:srgbClr val="1A1530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0F0F8"/>
                          </a:solidFill>
                          <a:latin typeface="Courier New"/>
                        </a:rPr>
                        <a:t>LUNA-MEMBER: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0F0F8"/>
                          </a:solidFill>
                          <a:latin typeface="Helvetica"/>
                        </a:rPr>
                        <a:t>Member ID card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0F0F8"/>
                          </a:solidFill>
                          <a:latin typeface="Helvetica"/>
                        </a:rPr>
                        <a:t>AWARD tab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0F0F8"/>
                          </a:solidFill>
                          <a:latin typeface="Courier New"/>
                        </a:rPr>
                        <a:t>LUNA-ENT-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0F0F8"/>
                          </a:solidFill>
                          <a:latin typeface="Helvetica"/>
                        </a:rPr>
                        <a:t>Free Entry pass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0F0F8"/>
                          </a:solidFill>
                          <a:latin typeface="Helvetica"/>
                        </a:rPr>
                        <a:t>VALIDATE — door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0F0F8"/>
                          </a:solidFill>
                          <a:latin typeface="Courier New"/>
                        </a:rPr>
                        <a:t>LUNA-TKT-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0F0F8"/>
                          </a:solidFill>
                          <a:latin typeface="Helvetica"/>
                        </a:rPr>
                        <a:t>Milestone ticket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0F0F8"/>
                          </a:solidFill>
                          <a:latin typeface="Helvetica"/>
                        </a:rPr>
                        <a:t>VALIDATE — door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0F0F8"/>
                          </a:solidFill>
                          <a:latin typeface="Courier New"/>
                        </a:rPr>
                        <a:t>LUNA-DRINK-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0F0F8"/>
                          </a:solidFill>
                          <a:latin typeface="Helvetica"/>
                        </a:rPr>
                        <a:t>Free drink reward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0F0F8"/>
                          </a:solidFill>
                          <a:latin typeface="Helvetica"/>
                        </a:rPr>
                        <a:t>VALIDATE — bar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0F0F8"/>
                          </a:solidFill>
                          <a:latin typeface="Courier New"/>
                        </a:rPr>
                        <a:t>LUNA-BDAY-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0F0F8"/>
                          </a:solidFill>
                          <a:latin typeface="Helvetica"/>
                        </a:rPr>
                        <a:t>Birthday reward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0F0F8"/>
                          </a:solidFill>
                          <a:latin typeface="Helvetica"/>
                        </a:rPr>
                        <a:t>VALIDATE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0F0F8"/>
                          </a:solidFill>
                          <a:latin typeface="Courier New"/>
                        </a:rPr>
                        <a:t>LUNA-&lt;uuid&gt;-…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0F0F8"/>
                          </a:solidFill>
                          <a:latin typeface="Helvetica"/>
                        </a:rPr>
                        <a:t>Generic reward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0F0F8"/>
                          </a:solidFill>
                          <a:latin typeface="Helvetica"/>
                        </a:rPr>
                        <a:t>VALIDATE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D4AF5A"/>
                </a:solidFill>
                <a:latin typeface="Helvetica"/>
              </a:rPr>
              <a:t>If it doesn't start with LUNA- it's not ours. Reject politely.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5B0"/>
                </a:solidFill>
                <a:latin typeface="Helvetica"/>
              </a:rPr>
              <a:t>Luna Group VIP · Staff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64465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95B0"/>
                </a:solidFill>
                <a:latin typeface="Helvetica"/>
              </a:rPr>
              <a:t>Module 5 · QR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D4AF5A"/>
                </a:solidFill>
                <a:latin typeface="Helvetica"/>
              </a:rPr>
              <a:t>MODULE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elvetica"/>
              </a:rPr>
              <a:t>Points · Tiers · Subscriptions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480560"/>
            <a:ext cx="1371600" cy="54864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F5A"/>
                </a:solidFill>
                <a:latin typeface="Helvetica"/>
              </a:rPr>
              <a:t>MODULE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"/>
              </a:rPr>
              <a:t>Base Tiers (lifetime points)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914400" cy="45720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10312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286000"/>
                <a:gridCol w="4114800"/>
              </a:tblGrid>
              <a:tr h="6400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"/>
                        </a:rPr>
                        <a:t>Tier</a:t>
                      </a:r>
                    </a:p>
                  </a:txBody>
                  <a:tcPr>
                    <a:solidFill>
                      <a:srgbClr val="1A15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"/>
                        </a:rPr>
                        <a:t>Lifetime points</a:t>
                      </a:r>
                    </a:p>
                  </a:txBody>
                  <a:tcPr>
                    <a:solidFill>
                      <a:srgbClr val="1A15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"/>
                        </a:rPr>
                        <a:t>Multiplier</a:t>
                      </a:r>
                    </a:p>
                  </a:txBody>
                  <a:tcPr>
                    <a:solidFill>
                      <a:srgbClr val="1A15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Helvetica"/>
                        </a:rPr>
                        <a:t>Headline perks</a:t>
                      </a:r>
                    </a:p>
                  </a:txBody>
                  <a:tcPr>
                    <a:solidFill>
                      <a:srgbClr val="1A153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8"/>
                          </a:solidFill>
                          <a:latin typeface="Helvetica"/>
                        </a:rPr>
                        <a:t>Bronze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8"/>
                          </a:solidFill>
                          <a:latin typeface="Helvetica"/>
                        </a:rPr>
                        <a:t>1.0×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8"/>
                          </a:solidFill>
                          <a:latin typeface="Helvetica"/>
                        </a:rPr>
                        <a:t>Standard rewards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8"/>
                          </a:solidFill>
                          <a:latin typeface="Helvetica"/>
                        </a:rPr>
                        <a:t>Silver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8"/>
                          </a:solidFill>
                          <a:latin typeface="Helvetica"/>
                        </a:rPr>
                        <a:t>5,000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8"/>
                          </a:solidFill>
                          <a:latin typeface="Helvetica"/>
                        </a:rPr>
                        <a:t>1.25×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8"/>
                          </a:solidFill>
                          <a:latin typeface="Helvetica"/>
                        </a:rPr>
                        <a:t>Priority entry occasionally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8"/>
                          </a:solidFill>
                          <a:latin typeface="Helvetica"/>
                        </a:rPr>
                        <a:t>Gold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8"/>
                          </a:solidFill>
                          <a:latin typeface="Helvetica"/>
                        </a:rPr>
                        <a:t>25,000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8"/>
                          </a:solidFill>
                          <a:latin typeface="Helvetica"/>
                        </a:rPr>
                        <a:t>1.5×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8"/>
                          </a:solidFill>
                          <a:latin typeface="Helvetica"/>
                        </a:rPr>
                        <a:t>Free drinks · select line-skips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8"/>
                          </a:solidFill>
                          <a:latin typeface="Helvetica"/>
                        </a:rPr>
                        <a:t>Legend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8"/>
                          </a:solidFill>
                          <a:latin typeface="Helvetica"/>
                        </a:rPr>
                        <a:t>100,000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8"/>
                          </a:solidFill>
                          <a:latin typeface="Helvetica"/>
                        </a:rPr>
                        <a:t>2.0×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8"/>
                          </a:solidFill>
                          <a:latin typeface="Helvetica"/>
                        </a:rPr>
                        <a:t>All-access · dedicated host</a:t>
                      </a:r>
                    </a:p>
                  </a:txBody>
                  <a:tcPr>
                    <a:solidFill>
                      <a:srgbClr val="08080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5B0"/>
                </a:solidFill>
                <a:latin typeface="Helvetica"/>
              </a:rPr>
              <a:t>Luna Group VIP · Staff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95B0"/>
                </a:solidFill>
                <a:latin typeface="Helvetica"/>
              </a:rPr>
              <a:t>Module 6 · Tiers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F5A"/>
                </a:solidFill>
                <a:latin typeface="Helvetica"/>
              </a:rPr>
              <a:t>MODULE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"/>
              </a:rPr>
              <a:t>Paid Subscriptions — Stripe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914400" cy="45720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Aurora  —  bonus points multiplier · early access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Lunar   —  monthly free entries (LUNA-ENT-) · monthly drink · priority bookings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Legend  —  Lunar perks + table credits + concierge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Subscription tier is INDEPENDENT of base tier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(A Bronze member can hold a Lunar subscription)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Total earn multiplier = base tier × subscription bonus × active boost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5B0"/>
                </a:solidFill>
                <a:latin typeface="Helvetica"/>
              </a:rPr>
              <a:t>Luna Group VIP · Staff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95B0"/>
                </a:solidFill>
                <a:latin typeface="Helvetica"/>
              </a:rPr>
              <a:t>Module 6 · Subs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F5A"/>
                </a:solidFill>
                <a:latin typeface="Helvetica"/>
              </a:rPr>
              <a:t>MODULE 6.5 ·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"/>
              </a:rPr>
              <a:t>Missions &amp; Milestones — what 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914400" cy="45720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700">
                <a:solidFill>
                  <a:srgbClr val="F0F0F8"/>
                </a:solidFill>
                <a:latin typeface="Helvetica"/>
              </a:rPr>
              <a:t>MISSIONS auto-progress every time you Quick-Award. No extra steps.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700">
                <a:solidFill>
                  <a:srgbClr val="F0F0F8"/>
                </a:solidFill>
                <a:latin typeface="Helvetica"/>
              </a:rPr>
              <a:t>Members see live progress in Profile → Missions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700">
                <a:solidFill>
                  <a:srgbClr val="F0F0F8"/>
                </a:solidFill>
                <a:latin typeface="Helvetica"/>
              </a:rPr>
              <a:t>Mission complete? — push fires; member taps Claim to bank the points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700">
                <a:solidFill>
                  <a:srgbClr val="F0F0F8"/>
                </a:solidFill>
                <a:latin typeface="Helvetica"/>
              </a:rPr>
              <a:t>MILESTONES are lifetime tiers — Newbie · Rising Star · VIP Status · Luna Elite · Supernova · Legend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700">
                <a:solidFill>
                  <a:srgbClr val="F0F0F8"/>
                </a:solidFill>
                <a:latin typeface="Helvetica"/>
              </a:rPr>
              <a:t>Hitting a milestone unlocks signed LUNA-TKT- QRs (single-use, can't be forged)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700">
                <a:solidFill>
                  <a:srgbClr val="F0F0F8"/>
                </a:solidFill>
                <a:latin typeface="Helvetica"/>
              </a:rPr>
              <a:t>Manager-only: Lovable now has a 'Test trigger' button + activity timeline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700">
                <a:solidFill>
                  <a:srgbClr val="F0F0F8"/>
                </a:solidFill>
                <a:latin typeface="Helvetica"/>
              </a:rPr>
              <a:t>Common Q: "did this count toward my mission?" — Answer: yes, automatically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5B0"/>
                </a:solidFill>
                <a:latin typeface="Helvetica"/>
              </a:rPr>
              <a:t>Luna Group VIP · Staff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95B0"/>
                </a:solidFill>
                <a:latin typeface="Helvetica"/>
              </a:rPr>
              <a:t>Module 6.5 · Missions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D4AF5A"/>
                </a:solidFill>
                <a:latin typeface="Helvetica"/>
              </a:rPr>
              <a:t>MODULE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elvetica"/>
              </a:rPr>
              <a:t>Safety / SOS
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480560"/>
            <a:ext cx="1371600" cy="54864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F5A"/>
                </a:solidFill>
                <a:latin typeface="Helvetica"/>
              </a:rPr>
              <a:t>MODULE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"/>
              </a:rPr>
              <a:t>If a guest fires SOS in your 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914400" cy="45720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Manager receives instant alert in the Lovable admin portal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Locate guest — their last known venue is in the alert payload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Provide assistance: water · first aid · ride-share · escort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Write a 2-line incident note in the portal Resolve action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If serious (medical / police): call 000 FIRST, then update portal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Members add up to 5 emergency contacts in Safety Settings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SMS dispatch via Twilio — coming next sprint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5B0"/>
                </a:solidFill>
                <a:latin typeface="Helvetica"/>
              </a:rPr>
              <a:t>Luna Group VIP · Staff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95B0"/>
                </a:solidFill>
                <a:latin typeface="Helvetica"/>
              </a:rPr>
              <a:t>Module 7 · Safety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D4AF5A"/>
                </a:solidFill>
                <a:latin typeface="Helvetica"/>
              </a:rPr>
              <a:t>MODULE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elvetica"/>
              </a:rPr>
              <a:t>Troubleshooting
&amp; 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480560"/>
            <a:ext cx="1371600" cy="54864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F5A"/>
                </a:solidFill>
                <a:latin typeface="Helvetica"/>
              </a:rPr>
              <a:t>MODULE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"/>
              </a:rPr>
              <a:t>Top member questions — one-line scripts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914400" cy="45720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D4AF5A"/>
                </a:solidFill>
                <a:latin typeface="Helvetica"/>
              </a:rPr>
              <a:t>"How do I get my points?"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20116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0F0F8"/>
                </a:solidFill>
                <a:latin typeface="Helvetica"/>
              </a:rPr>
              <a:t>I'll scan your member QR and award them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D4AF5A"/>
                </a:solidFill>
                <a:latin typeface="Helvetica"/>
              </a:rPr>
              <a:t>"Where's my member QR?"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5146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0F0F8"/>
                </a:solidFill>
                <a:latin typeface="Helvetica"/>
              </a:rPr>
              <a:t>Open the app → Wallet → Member Card.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D4AF5A"/>
                </a:solidFill>
                <a:latin typeface="Helvetica"/>
              </a:rPr>
              <a:t>"I didn't get points from yesterday"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30175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0F0F8"/>
                </a:solidFill>
                <a:latin typeface="Helvetica"/>
              </a:rPr>
              <a:t>Let me check History — SwiftPOS can take a few minutes.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3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D4AF5A"/>
                </a:solidFill>
                <a:latin typeface="Helvetica"/>
              </a:rPr>
              <a:t>"How do I get free entry?"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520439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0F0F8"/>
                </a:solidFill>
                <a:latin typeface="Helvetica"/>
              </a:rPr>
              <a:t>Lunar subscription gives monthly entries; tier may also unlock.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5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D4AF5A"/>
                </a:solidFill>
                <a:latin typeface="Helvetica"/>
              </a:rPr>
              <a:t>"What's my tier?"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4023359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0F0F8"/>
                </a:solidFill>
                <a:latin typeface="Helvetica"/>
              </a:rPr>
              <a:t>It's on your Profile screen — Bronze · Silver · Gold · Legend.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2627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D4AF5A"/>
                </a:solidFill>
                <a:latin typeface="Helvetica"/>
              </a:rPr>
              <a:t>"How do referrals work?"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526279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0F0F8"/>
                </a:solidFill>
                <a:latin typeface="Helvetica"/>
              </a:rPr>
              <a:t>Profile → Refer a Friend. You both get bonus points after their first visit.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19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D4AF5A"/>
                </a:solidFill>
                <a:latin typeface="Helvetica"/>
              </a:rPr>
              <a:t>"I lost something"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5029199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0F0F8"/>
                </a:solidFill>
                <a:latin typeface="Helvetica"/>
              </a:rPr>
              <a:t>App → Lost &amp; Found → Report Missing. We'll match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3211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D4AF5A"/>
                </a:solidFill>
                <a:latin typeface="Helvetica"/>
              </a:rPr>
              <a:t>"Cancel my subscription?"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5532119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0F0F8"/>
                </a:solidFill>
                <a:latin typeface="Helvetica"/>
              </a:rPr>
              <a:t>Profile → Subscriptions → Manage. Stripe handles it; access until period-end.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5B0"/>
                </a:solidFill>
                <a:latin typeface="Helvetica"/>
              </a:rPr>
              <a:t>Luna Group VIP · Staff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64465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95B0"/>
                </a:solidFill>
                <a:latin typeface="Helvetica"/>
              </a:rPr>
              <a:t>Module 8 · Cheat sheet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F5A"/>
                </a:solidFill>
                <a:latin typeface="Helvetica"/>
              </a:rPr>
              <a:t>MODULE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"/>
              </a:rPr>
              <a:t>Troubleshooting playbook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914400" cy="45720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Points not showing  →  check History; if absent, re-award + flag manager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QR won't scan  →  brightness up · full-screen Member Card · or search by email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App crashing  →  force close · update · capture screenshot for support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Wrong venue on receipt  →  do NOT reverse · call manager · they fix in Lovable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Duplicate award  →  manager reverses one in Lovable Admin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5B0"/>
                </a:solidFill>
                <a:latin typeface="Helvetica"/>
              </a:rPr>
              <a:t>Luna Group VIP · Staff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95B0"/>
                </a:solidFill>
                <a:latin typeface="Helvetica"/>
              </a:rPr>
              <a:t>Module 8 · Troubleshooting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D4AF5A"/>
                </a:solidFill>
                <a:latin typeface="Helvetica"/>
              </a:rPr>
              <a:t>MODULE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elvetica"/>
              </a:rPr>
              <a:t>Practical Drills
&amp; Sign-off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480560"/>
            <a:ext cx="1371600" cy="54864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F5A"/>
                </a:solidFill>
                <a:latin typeface="Helvetica"/>
              </a:rPr>
              <a:t>MODULE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"/>
              </a:rPr>
              <a:t>Drills — pair up and demonstrate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914400" cy="45720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DRILL 1 · Award $85 of drinks at Eclipse with receipt ref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DRILL 2 · Validate a LUNA-DRINK- QR at the bar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DRILL 3 · Validate a LUNA-ENT- QR at the door (wrong venue first → see error)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DRILL 4 · Search a member by phone, then by QR scan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DRILL 5 · Investigate a fake "missing points" complaint via History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800">
                <a:solidFill>
                  <a:srgbClr val="F0F0F8"/>
                </a:solidFill>
                <a:latin typeface="Helvetica"/>
              </a:rPr>
              <a:t>DRILL 6 · Manager only: issue a Gift-Points override with a written reason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5B0"/>
                </a:solidFill>
                <a:latin typeface="Helvetica"/>
              </a:rPr>
              <a:t>Luna Group VIP · Staff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95B0"/>
                </a:solidFill>
                <a:latin typeface="Helvetica"/>
              </a:rPr>
              <a:t>Module 9 · Drills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F5A"/>
                </a:solidFill>
                <a:latin typeface="Helvetica"/>
              </a:rPr>
              <a:t>MODULE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"/>
              </a:rPr>
              <a:t>Sign-off — each trainee must demonstrate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914400" cy="45720"/>
          </a:xfrm>
          <a:prstGeom prst="rect">
            <a:avLst/>
          </a:prstGeom>
          <a:solidFill>
            <a:srgbClr val="D4A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700">
                <a:solidFill>
                  <a:srgbClr val="F0F0F8"/>
                </a:solidFill>
                <a:latin typeface="Helvetica"/>
              </a:rPr>
              <a:t>✓ Log in and select correct venue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700">
                <a:solidFill>
                  <a:srgbClr val="F0F0F8"/>
                </a:solidFill>
                <a:latin typeface="Helvetica"/>
              </a:rPr>
              <a:t>✓ Search by name · email · QR scan (all three)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700">
                <a:solidFill>
                  <a:srgbClr val="F0F0F8"/>
                </a:solidFill>
                <a:latin typeface="Helvetica"/>
              </a:rPr>
              <a:t>✓ Quick-award with category + receipt ref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700">
                <a:solidFill>
                  <a:srgbClr val="F0F0F8"/>
                </a:solidFill>
                <a:latin typeface="Helvetica"/>
              </a:rPr>
              <a:t>✓ Validate every QR type (MEMBER · ENT · TKT · DRINK · BDAY · generic)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700">
                <a:solidFill>
                  <a:srgbClr val="F0F0F8"/>
                </a:solidFill>
                <a:latin typeface="Helvetica"/>
              </a:rPr>
              <a:t>✓ Explain base tier vs subscription tier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700">
                <a:solidFill>
                  <a:srgbClr val="F0F0F8"/>
                </a:solidFill>
                <a:latin typeface="Helvetica"/>
              </a:rPr>
              <a:t>✓ Walk a member to their Member Card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700">
                <a:solidFill>
                  <a:srgbClr val="F0F0F8"/>
                </a:solidFill>
                <a:latin typeface="Helvetica"/>
              </a:rPr>
              <a:t>✓ Triage a missing-points complaint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700">
                <a:solidFill>
                  <a:srgbClr val="F0F0F8"/>
                </a:solidFill>
                <a:latin typeface="Helvetica"/>
              </a:rPr>
              <a:t>✓ Explain (don't fire) the SOS workflow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D4AF5A"/>
                </a:solidFill>
                <a:latin typeface="Helvetica"/>
              </a:rPr>
              <a:t>•   </a:t>
            </a:r>
            <a:r>
              <a:rPr sz="1700">
                <a:solidFill>
                  <a:srgbClr val="F0F0F8"/>
                </a:solidFill>
                <a:latin typeface="Helvetica"/>
              </a:rPr>
              <a:t>✓ Identify when to escalate to manager / Luna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5B0"/>
                </a:solidFill>
                <a:latin typeface="Helvetica"/>
              </a:rPr>
              <a:t>Luna Group VIP · Staff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465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95B0"/>
                </a:solidFill>
                <a:latin typeface="Helvetica"/>
              </a:rPr>
              <a:t>Module 9 · Sign-off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Helvetica"/>
              </a:rPr>
              <a:t>WELCOME TO 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D4AF5A"/>
                </a:solidFill>
                <a:latin typeface="Helvetica"/>
              </a:rPr>
              <a:t>Now go make every Luna night unforgettable.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A95B0"/>
                </a:solidFill>
                <a:latin typeface="Helvetica"/>
              </a:rPr>
              <a:t>Questions?  ·  support@lunagroupapp.com.au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